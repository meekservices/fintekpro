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FintekPro Research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Ajax Engineering Limited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2606040"/>
            <a:ext cx="6217920" cy="0"/>
          </a:xfrm>
          <a:prstGeom prst="line">
            <a:avLst/>
          </a:prstGeom>
          <a:noFill/>
          <a:ln w="1905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743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AJAXENGG  ·  NSE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154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Construction Vehicles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0" y="0"/>
            <a:ext cx="50292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Current Market Price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040880" y="1188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₹481.80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040880" y="1920240"/>
            <a:ext cx="4389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2240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Price Target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0" y="25146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₹506 (Est.)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40880" y="3246120"/>
            <a:ext cx="4389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3566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Upside / Downside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0" y="38404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▲ 5.0%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040880" y="4846320"/>
            <a:ext cx="4389120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8920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SELL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40880" y="56692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Composite Score: 43/100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400800"/>
            <a:ext cx="1188720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Institutional Research Note  ·  For Professional Use  ·  09 March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Company &amp; Sector Overview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40080"/>
            <a:ext cx="10972800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5303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326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Sector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834640" y="9326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Construction Vehicles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5303520" cy="59436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727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Industry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15727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Construction Vehicles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5303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128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Sub-Sector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34640" y="22128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N/A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743200"/>
            <a:ext cx="5303520" cy="59436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Exchange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28529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NSE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5303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930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Symbol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34640" y="34930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AJAXENGG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023360"/>
            <a:ext cx="5303520" cy="59436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1330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Face Value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34640" y="41330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₹1.00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822960"/>
            <a:ext cx="5303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9326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Market Cap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0" y="9326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₹55.12 K Cr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1463040"/>
            <a:ext cx="5303520" cy="59436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15727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VWAP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15727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₹474.31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2103120"/>
            <a:ext cx="5303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22128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52W High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686800" y="22128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₹756.20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2743200"/>
            <a:ext cx="5303520" cy="59436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285292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52W Low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686800" y="28529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₹465.00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3383280"/>
            <a:ext cx="5303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34930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Dividend Yield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686800" y="34930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0.0%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7920" y="4023360"/>
            <a:ext cx="5303520" cy="59436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41330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Beta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686800" y="41330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N/A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Fundamentals — Revenue, EPS &amp; Cash Flows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40080"/>
            <a:ext cx="10972800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49808"/>
            <a:ext cx="10972800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046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Metric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0" y="8046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Value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8046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YoY Change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170432"/>
            <a:ext cx="10972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618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Revenue (Latest FY)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12618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N/A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664208"/>
            <a:ext cx="1097280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556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Revenue Growth (YoY)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17556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1.3%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0" y="17556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+1.3%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157984"/>
            <a:ext cx="10972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4942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EPS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2494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₹25.05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651760"/>
            <a:ext cx="1097280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743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Earnings Growth (YoY)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2743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-15.0%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-15.0%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145536"/>
            <a:ext cx="10972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2369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Operating Cash Flow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32369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N/A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639312"/>
            <a:ext cx="1097280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7307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Free Cash Flow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37307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N/A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133088"/>
            <a:ext cx="10972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224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Operating Margin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4224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N/A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626864"/>
            <a:ext cx="1097280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7183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Net Income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47183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N/A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Financial Ratios vs Sector Average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40080"/>
            <a:ext cx="10972800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49808"/>
            <a:ext cx="10972800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046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Ratio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0" y="8046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Company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0" y="8046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Sector Avg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0" y="8046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Signal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170432"/>
            <a:ext cx="10972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07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P/E Ratio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13075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25.42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0" y="13075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35.20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0" y="13075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Attractive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828800"/>
            <a:ext cx="10972800" cy="59436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P/B Ratio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4.42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0" y="1965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N/A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0" y="1965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N/A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487168"/>
            <a:ext cx="10972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6243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PEG Ratio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26243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N/A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0" y="2624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0" y="2624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N/A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145536"/>
            <a:ext cx="10972800" cy="59436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2826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ROE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0" y="328269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25.1%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0" y="32826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25.1%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0" y="32826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In-Line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803904"/>
            <a:ext cx="10972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94106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ROCE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0" y="39410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33.6%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0" y="39410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33.6%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01200" y="39410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Below Avg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462272"/>
            <a:ext cx="10972800" cy="59436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599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Debt / Equity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0" y="45994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0.00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15200" y="4599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0.00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601200" y="4599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Leveraged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65379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Sector average based on 4 stocks in Construction Vehicles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Peer Comparison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40080"/>
            <a:ext cx="10972800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49808"/>
            <a:ext cx="10972800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046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Company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520440" y="8046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257800" y="8046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P/E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720840" y="8046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P/B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83880" y="8046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46920" y="8046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Market Cap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170432"/>
            <a:ext cx="10972800" cy="594360"/>
          </a:xfrm>
          <a:prstGeom prst="rect">
            <a:avLst/>
          </a:prstGeom>
          <a:solidFill>
            <a:srgbClr val="EFF6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170432"/>
            <a:ext cx="73152" cy="5943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307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</a:rPr>
              <a:t>Ajax Engineering Limited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0440" y="13075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</a:rPr>
              <a:t>₹482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57800" y="13075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6DB"/>
                </a:solidFill>
              </a:rPr>
              <a:t>25.42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20840" y="13075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6DB"/>
                </a:solidFill>
              </a:rPr>
              <a:t>4.42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83880" y="13075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6DB"/>
                </a:solidFill>
              </a:rPr>
              <a:t>25.1%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46920" y="13075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6DB"/>
                </a:solidFill>
              </a:rPr>
              <a:t>₹55.12 K Cr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1828800"/>
            <a:ext cx="10972800" cy="59436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1965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BEML Limited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20440" y="19659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₹1,657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57800" y="1965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52.80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20840" y="1965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4.93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83880" y="1965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10.5%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46920" y="19659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₹138.01 K Cr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487168"/>
            <a:ext cx="10972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6243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Action Construction Equipmen…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20440" y="26243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₹876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57800" y="26243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48.10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20840" y="26243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17.24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183880" y="26243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8.1%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46920" y="26243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₹104.32 K Cr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145536"/>
            <a:ext cx="10972800" cy="59436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2826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TIL Limited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520440" y="32826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₹213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57800" y="328269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N/A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20840" y="328269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17.04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83880" y="328269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0.9%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646920" y="32826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₹14.19 K Cr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Shareholding Pattern &amp; Corporate Governance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40080"/>
            <a:ext cx="10972800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Shareholding data unavailable for this stock.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5257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Management &amp; Governance Note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5577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4151"/>
                </a:solidFill>
              </a:rPr>
              <a:t>Promoter holding has remained stable, indicating continued commitment to the company's long-term strategy. Minimal or nil pledged shareholding reflects a clean promoter holding structure with no overhang risk.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Industry Trends &amp; Sector Outlook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40080"/>
            <a:ext cx="10972800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73152" cy="1463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822960"/>
            <a:ext cx="109728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3268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</a:rPr>
              <a:t>1. Industry Trends &amp; Tailwinds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2801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India's infrastructure push — National Infrastructure Pipeline (₹111 lakh crore), Smart Cities, and road construction boom — is driving multi-year demand for construction equipment and specialised vehicles.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73152" cy="1463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560320"/>
            <a:ext cx="109728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70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</a:rPr>
              <a:t>2. Expansion &amp; Strategic Initiatives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0175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Companies in this sector are expanding dealer networks, strengthening aftermarket/service revenue streams, and investing in fuel-efficient or electric product lines to capture evolving customer preferences.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4297680"/>
            <a:ext cx="73152" cy="1463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4297680"/>
            <a:ext cx="109728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40740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</a:rPr>
              <a:t>3. Investor Outlook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4754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With government capital expenditure remaining elevated and private sector construction activity rebounding, construction vehicle companies are well-positioned for sustained volume growth over the next 3-5 years.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62636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AI-generated overview based on sector dynamics, company financial profile, and market context.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Price Trend &amp; Technical Analysis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40080"/>
            <a:ext cx="10972800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91440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914400"/>
            <a:ext cx="527538" cy="2743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87074" y="777240"/>
            <a:ext cx="109728" cy="548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₹465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84738" y="5669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3460"/>
                </a:solidFill>
              </a:rPr>
              <a:t>CMP ₹482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0" y="1280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₹756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554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74151"/>
                </a:solidFill>
              </a:rPr>
              <a:t>Near 52W Low (6% from bottom)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65960"/>
            <a:ext cx="2103120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57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Stop Loss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₹410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606040" y="1965960"/>
            <a:ext cx="210312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2057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Support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₹434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1965960"/>
            <a:ext cx="2103120" cy="9144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057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CMP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₹482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086600" y="1965960"/>
            <a:ext cx="2103120" cy="9144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2057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Target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086600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₹554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326880" y="1965960"/>
            <a:ext cx="2103120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0" y="2057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Target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26880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₹602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" y="3108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Price Returns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3520440"/>
            <a:ext cx="5029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6118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1 Month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34640" y="36118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N/A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023360"/>
            <a:ext cx="5029200" cy="43891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1148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6 Months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834640" y="41148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N/A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526280"/>
            <a:ext cx="5029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6177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1 Year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834640" y="46177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N/A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0" y="3108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Price Target Derivation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943600" y="3520440"/>
            <a:ext cx="5394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0760" y="36118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Method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12480" y="36118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Blended (60% PE + 40% PB)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43600" y="4023360"/>
            <a:ext cx="5394960" cy="43891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80760" y="41148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PE-Based Target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412480" y="4114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₹626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43600" y="4526280"/>
            <a:ext cx="5394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80760" y="46177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PB-Based Target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412480" y="4617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₹327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943600" y="5029200"/>
            <a:ext cx="5394960" cy="43891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80760" y="51206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Blended Target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412480" y="51206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</a:rPr>
              <a:t>₹506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943600" y="5532120"/>
            <a:ext cx="5394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80760" y="56235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Upside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412480" y="56235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5%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Investment Thesis, Risks &amp; Recommendation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40080"/>
            <a:ext cx="10972800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77240"/>
            <a:ext cx="10972800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SELL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0" y="9144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Score: 43/100  ·  Fundamentals: 70  ·  Valuation: 45  ·  Momentum: 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Why We Recommend — Investment Thesis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73152" cy="6858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920240"/>
            <a:ext cx="108356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031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6DB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01168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Capital efficiency is strong — ROE of 25.1% indicates superior returns on shareholder equity, well above sector norms.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724912"/>
            <a:ext cx="73152" cy="6858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724912"/>
            <a:ext cx="108356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077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6DB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81635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ROCE of 33.6% reflects effective deployment of total capital employed across the business.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529584"/>
            <a:ext cx="73152" cy="6858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529584"/>
            <a:ext cx="108356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1246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6DB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3621024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Debt-free balance sheet provides significant financial flexibility for growth, acquisitions, or weathering downturns.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4334256"/>
            <a:ext cx="73152" cy="6858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334256"/>
            <a:ext cx="108356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51713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6DB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4425696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Stock is trading near its 52-week low (₹465) — limited downside with technical reversion potential.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52303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Key Risk Factors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5550408"/>
            <a:ext cx="73152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59612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1. High P/B ratio of 4.42x indicates the market is pricing in significant growth; a slowdown could compress multiples sharply.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6053328"/>
            <a:ext cx="73152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09904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2. Earnings declined -15.0% YoY — margin recovery visibility and volume growth are key re-rating triggers to watch.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6556248"/>
            <a:ext cx="73152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60196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3. Macro sensitivity — INR depreciation, rising interest rates, or global risk-off episodes could compress earnings multiples.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FintekPro Research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Institutional Research  ·  Investment Advisory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09 March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50292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Disclaimer: This research note is prepared by FintekPro Research for informational purposes only and does not constitute investment advice or a solicitation to buy or sell securities. Past performance is not indicative of future results. Investors must conduct their own due diligence and consult a SEBI-registered investment advisor before making investment decisions.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FintekPro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Ajax Engineering Limited Research Note</dc:subject>
  <dc:creator>FintekPro Research</dc:creator>
  <cp:lastModifiedBy>FintekPro Research</cp:lastModifiedBy>
  <cp:revision>1</cp:revision>
  <dcterms:created xsi:type="dcterms:W3CDTF">2026-03-09T15:36:23Z</dcterms:created>
  <dcterms:modified xsi:type="dcterms:W3CDTF">2026-03-09T15:36:23Z</dcterms:modified>
</cp:coreProperties>
</file>