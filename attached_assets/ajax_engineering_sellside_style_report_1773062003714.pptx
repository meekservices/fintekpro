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Ajax Engineering Ltd – Equity Research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Sangram Kesari Mohanty</a:t>
            </a:r>
          </a:p>
          <a:p>
            <a:r>
              <a:t>Sector: Capital Goods / Construction Equipment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leader in Self Loading Concrete Mixers</a:t>
            </a:r>
          </a:p>
          <a:p>
            <a:r>
              <a:t>ROE ~25%, ROCE ~33%</a:t>
            </a:r>
          </a:p>
          <a:p>
            <a:r>
              <a:t>Debt-free balance sheet</a:t>
            </a:r>
          </a:p>
          <a:p>
            <a:r>
              <a:t>Infrastructure capex tailwind</a:t>
            </a:r>
          </a:p>
          <a:p>
            <a:r>
              <a:t>Recommendation: BUY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1992</a:t>
            </a:r>
          </a:p>
          <a:p>
            <a:r>
              <a:t>Headquartered in Bangalore</a:t>
            </a:r>
          </a:p>
          <a:p>
            <a:r>
              <a:t>Manufactures concrete equipment</a:t>
            </a:r>
          </a:p>
          <a:p>
            <a:r>
              <a:t>Strong dealer &amp; service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 Loading Concrete Mixers</a:t>
            </a:r>
          </a:p>
          <a:p>
            <a:r>
              <a:t>Concrete Batching Plants</a:t>
            </a:r>
          </a:p>
          <a:p>
            <a:r>
              <a:t>Transit Mixers</a:t>
            </a:r>
          </a:p>
          <a:p>
            <a:r>
              <a:t>Concrete Pumps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spending rising in India</a:t>
            </a:r>
          </a:p>
          <a:p>
            <a:r>
              <a:t>Construction equipment demand growing</a:t>
            </a:r>
          </a:p>
          <a:p>
            <a:r>
              <a:t>Expected industry growth ~10–12% CAGR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leadership in SLCM segment</a:t>
            </a:r>
          </a:p>
          <a:p>
            <a:r>
              <a:t>Strong brand and distribution</a:t>
            </a:r>
          </a:p>
          <a:p>
            <a:r>
              <a:t>High return ratios</a:t>
            </a:r>
          </a:p>
          <a:p>
            <a:r>
              <a:t>Low financial leverage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CAGR ~20%</a:t>
            </a:r>
          </a:p>
          <a:p>
            <a:r>
              <a:t>Profit CAGR ~30%</a:t>
            </a:r>
          </a:p>
          <a:p>
            <a:r>
              <a:t>Strong operating leverage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Ajax Engineering – ROE ~25%, PE ~24</a:t>
            </a:r>
          </a:p>
          <a:p>
            <a:r>
              <a:t>Action Construction Equipment – ROE ~20%, PE ~32</a:t>
            </a:r>
          </a:p>
          <a:p>
            <a:r>
              <a:t>BEML – ROE ~16%, PE ~40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capex</a:t>
            </a:r>
          </a:p>
          <a:p>
            <a:r>
              <a:t>Urbanization</a:t>
            </a:r>
          </a:p>
          <a:p>
            <a:r>
              <a:t>Road construction</a:t>
            </a:r>
          </a:p>
          <a:p>
            <a:r>
              <a:t>Metro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spending slowdown</a:t>
            </a:r>
          </a:p>
          <a:p>
            <a:r>
              <a:t>Commodity inflation</a:t>
            </a:r>
          </a:p>
          <a:p>
            <a:r>
              <a:t>Demand cyclicality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PE in mid‑20s</a:t>
            </a:r>
          </a:p>
          <a:p>
            <a:r>
              <a:t>Industry peers trading above 30 PE</a:t>
            </a:r>
          </a:p>
          <a:p>
            <a:r>
              <a:t>Potential valuation re‑rating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Rating: BUY</a:t>
            </a:r>
          </a:p>
          <a:p>
            <a:r>
              <a:t>Entry: ₹460–₹500</a:t>
            </a:r>
          </a:p>
          <a:p>
            <a:r>
              <a:t>Target: ₹650–₹720</a:t>
            </a:r>
          </a:p>
          <a:p>
            <a:r>
              <a:t>Stop Loss: ₹420</a:t>
            </a:r>
          </a:p>
          <a:p>
            <a:r>
              <a:t>Horizon: 18–24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10-Year Revenue Growth</a:t>
            </a:r>
          </a:p>
        </p:txBody>
      </p:sp>
      <p:pic>
        <p:nvPicPr>
          <p:cNvPr id="3" name="Picture 2" descr="ajax_rev_1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10-Year Profit Growth</a:t>
            </a:r>
          </a:p>
        </p:txBody>
      </p:sp>
      <p:pic>
        <p:nvPicPr>
          <p:cNvPr id="3" name="Picture 2" descr="ajax_profit_1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ROE vs PE Valuation Quadrant</a:t>
            </a:r>
          </a:p>
        </p:txBody>
      </p:sp>
      <p:pic>
        <p:nvPicPr>
          <p:cNvPr id="3" name="Picture 2" descr="ajax_roe_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TAM Growth</a:t>
            </a:r>
          </a:p>
        </p:txBody>
      </p:sp>
      <p:pic>
        <p:nvPicPr>
          <p:cNvPr id="3" name="Picture 2" descr="ajax_tam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